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e2584f012449b7" /><Relationship Type="http://schemas.openxmlformats.org/officeDocument/2006/relationships/extended-properties" Target="/docProps/app.xml" Id="Reeb2749d92db48b6" /><Relationship Type="http://schemas.openxmlformats.org/officeDocument/2006/relationships/officeDocument" Target="/ppt/presentation.xml" Id="R23346134d1df4b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3a54de63304ab3"/>
  </p:sldMasterIdLst>
  <p:notesMasterIdLst>
    <p:notesMasterId xmlns:r="http://schemas.openxmlformats.org/officeDocument/2006/relationships" r:id="Rc43a8b45724a4fc4"/>
  </p:notesMasterIdLst>
  <p:sldIdLst>
    <p:sldId xmlns:r="http://schemas.openxmlformats.org/officeDocument/2006/relationships" id="256" r:id="R19b39589cdda457a"/>
    <p:sldId xmlns:r="http://schemas.openxmlformats.org/officeDocument/2006/relationships" id="257" r:id="R36997f0934284a9d"/>
    <p:sldId xmlns:r="http://schemas.openxmlformats.org/officeDocument/2006/relationships" id="258" r:id="R1db280913abe4094"/>
    <p:sldId xmlns:r="http://schemas.openxmlformats.org/officeDocument/2006/relationships" id="259" r:id="R5ede5473e945421f"/>
    <p:sldId xmlns:r="http://schemas.openxmlformats.org/officeDocument/2006/relationships" id="260" r:id="Rd2a25437dd0240dc"/>
    <p:sldId xmlns:r="http://schemas.openxmlformats.org/officeDocument/2006/relationships" id="261" r:id="R7e4182f4e76244ce"/>
    <p:sldId xmlns:r="http://schemas.openxmlformats.org/officeDocument/2006/relationships" id="262" r:id="Rb436299899b54744"/>
    <p:sldId xmlns:r="http://schemas.openxmlformats.org/officeDocument/2006/relationships" id="263" r:id="Ra982d20479f144f9"/>
    <p:sldId xmlns:r="http://schemas.openxmlformats.org/officeDocument/2006/relationships" id="264" r:id="R1304cd0103a54e76"/>
    <p:sldId xmlns:r="http://schemas.openxmlformats.org/officeDocument/2006/relationships" id="265" r:id="R37b59f0b4e8b48b1"/>
    <p:sldId xmlns:r="http://schemas.openxmlformats.org/officeDocument/2006/relationships" id="266" r:id="R1cad375fbb1a4b32"/>
    <p:sldId xmlns:r="http://schemas.openxmlformats.org/officeDocument/2006/relationships" id="267" r:id="R436b9dc34a4043ec"/>
    <p:sldId xmlns:r="http://schemas.openxmlformats.org/officeDocument/2006/relationships" id="268" r:id="R5953985f7683473f"/>
    <p:sldId xmlns:r="http://schemas.openxmlformats.org/officeDocument/2006/relationships" id="269" r:id="Rc456da8048d746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1b1be1231c441c" /><Relationship Type="http://schemas.openxmlformats.org/officeDocument/2006/relationships/slideMaster" Target="/ppt/slideMasters/slideMaster1.xml" Id="R703a54de63304ab3" /><Relationship Type="http://schemas.openxmlformats.org/officeDocument/2006/relationships/notesMaster" Target="/ppt/notesMasters/notesMaster1.xml" Id="Rc43a8b45724a4fc4" /><Relationship Type="http://schemas.openxmlformats.org/officeDocument/2006/relationships/presProps" Target="/ppt/presProps.xml" Id="R5fa4680d84244b01" /><Relationship Type="http://schemas.openxmlformats.org/officeDocument/2006/relationships/tableStyles" Target="/ppt/tableStyles.xml" Id="R94576876b5f84da3" /><Relationship Type="http://schemas.openxmlformats.org/officeDocument/2006/relationships/slide" Target="/ppt/slides/slide1.xml" Id="R19b39589cdda457a" /><Relationship Type="http://schemas.openxmlformats.org/officeDocument/2006/relationships/slide" Target="/ppt/slides/slide2.xml" Id="R36997f0934284a9d" /><Relationship Type="http://schemas.openxmlformats.org/officeDocument/2006/relationships/slide" Target="/ppt/slides/slide3.xml" Id="R1db280913abe4094" /><Relationship Type="http://schemas.openxmlformats.org/officeDocument/2006/relationships/slide" Target="/ppt/slides/slide4.xml" Id="R5ede5473e945421f" /><Relationship Type="http://schemas.openxmlformats.org/officeDocument/2006/relationships/slide" Target="/ppt/slides/slide5.xml" Id="Rd2a25437dd0240dc" /><Relationship Type="http://schemas.openxmlformats.org/officeDocument/2006/relationships/slide" Target="/ppt/slides/slide6.xml" Id="R7e4182f4e76244ce" /><Relationship Type="http://schemas.openxmlformats.org/officeDocument/2006/relationships/slide" Target="/ppt/slides/slide7.xml" Id="Rb436299899b54744" /><Relationship Type="http://schemas.openxmlformats.org/officeDocument/2006/relationships/slide" Target="/ppt/slides/slide8.xml" Id="Ra982d20479f144f9" /><Relationship Type="http://schemas.openxmlformats.org/officeDocument/2006/relationships/slide" Target="/ppt/slides/slide9.xml" Id="R1304cd0103a54e76" /><Relationship Type="http://schemas.openxmlformats.org/officeDocument/2006/relationships/slide" Target="/ppt/slides/slide10.xml" Id="R37b59f0b4e8b48b1" /><Relationship Type="http://schemas.openxmlformats.org/officeDocument/2006/relationships/slide" Target="/ppt/slides/slide11.xml" Id="R1cad375fbb1a4b32" /><Relationship Type="http://schemas.openxmlformats.org/officeDocument/2006/relationships/slide" Target="/ppt/slides/slide12.xml" Id="R436b9dc34a4043ec" /><Relationship Type="http://schemas.openxmlformats.org/officeDocument/2006/relationships/slide" Target="/ppt/slides/slide13.xml" Id="R5953985f7683473f" /><Relationship Type="http://schemas.openxmlformats.org/officeDocument/2006/relationships/slide" Target="/ppt/slides/slide14.xml" Id="Rc456da8048d746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e2d2c77a444c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91181b7f3542e1" /><Relationship Type="http://schemas.openxmlformats.org/officeDocument/2006/relationships/notesMaster" Target="/ppt/notesMasters/notesMaster1.xml" Id="R88153e9290e94c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b28968b1ca4bb4" /><Relationship Type="http://schemas.openxmlformats.org/officeDocument/2006/relationships/notesMaster" Target="/ppt/notesMasters/notesMaster1.xml" Id="R066fbb63411646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629fe618a04d36" /><Relationship Type="http://schemas.openxmlformats.org/officeDocument/2006/relationships/notesMaster" Target="/ppt/notesMasters/notesMaster1.xml" Id="Rbba36cbcecb347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0fa250edb446bf" /><Relationship Type="http://schemas.openxmlformats.org/officeDocument/2006/relationships/notesMaster" Target="/ppt/notesMasters/notesMaster1.xml" Id="R67c36ee4c5ed42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7b486eb79d499a" /><Relationship Type="http://schemas.openxmlformats.org/officeDocument/2006/relationships/notesMaster" Target="/ppt/notesMasters/notesMaster1.xml" Id="Rd5aa0b4c1cdf4c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9f40c4179e4d6f" /><Relationship Type="http://schemas.openxmlformats.org/officeDocument/2006/relationships/notesMaster" Target="/ppt/notesMasters/notesMaster1.xml" Id="R91b33847fb6b4d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e839333013400d" /><Relationship Type="http://schemas.openxmlformats.org/officeDocument/2006/relationships/notesMaster" Target="/ppt/notesMasters/notesMaster1.xml" Id="Rc649596e9d1146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9c64d8aac44610" /><Relationship Type="http://schemas.openxmlformats.org/officeDocument/2006/relationships/notesMaster" Target="/ppt/notesMasters/notesMaster1.xml" Id="R95b12e43303a4c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97e53d69d84223" /><Relationship Type="http://schemas.openxmlformats.org/officeDocument/2006/relationships/notesMaster" Target="/ppt/notesMasters/notesMaster1.xml" Id="R46925cf6055741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9f30984f694daa" /><Relationship Type="http://schemas.openxmlformats.org/officeDocument/2006/relationships/notesMaster" Target="/ppt/notesMasters/notesMaster1.xml" Id="R8e4558808f9d43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00a038be7043ea" /><Relationship Type="http://schemas.openxmlformats.org/officeDocument/2006/relationships/notesMaster" Target="/ppt/notesMasters/notesMaster1.xml" Id="Rb21d5d78480348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97dbef52bd4aae" /><Relationship Type="http://schemas.openxmlformats.org/officeDocument/2006/relationships/notesMaster" Target="/ppt/notesMasters/notesMaster1.xml" Id="Rcb199fd3033841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fc570e9cb14fa9" /><Relationship Type="http://schemas.openxmlformats.org/officeDocument/2006/relationships/notesMaster" Target="/ppt/notesMasters/notesMaster1.xml" Id="R889489f6ce954ee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80af0988a7479e" /><Relationship Type="http://schemas.openxmlformats.org/officeDocument/2006/relationships/notesMaster" Target="/ppt/notesMasters/notesMaster1.xml" Id="R9b752951482f45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1.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3–4.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3, 7, 12–13. The directory and queue are fictional or simulated.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5–6. Architecture is the implemented local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8. The actors and use cases match the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9. Simplified activity flow; booking and queue use demo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8. Conceptual classes from the report, not a generated ORM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9–10. The current prototype has completed initial implementation and evaluation; improvement continues.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6. Training methods and dataset sizes from the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11. Experimental research metrics; not clinical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12.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7, 12. Screenshots are from the saved local app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11–14. The Android export is not a signed APK or physical-device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C:/Users/HP/Downloads/SE (14).pdf, PDF pages 13–14.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f492b64ad45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8a5e7234de49f2" /><Relationship Type="http://schemas.openxmlformats.org/officeDocument/2006/relationships/slideLayout" Target="/ppt/slideLayouts/slideLayout1.xml" Id="Ra58d7683d0ed4f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8d7683d0ed4f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32643a4a74a49" /><Relationship Type="http://schemas.openxmlformats.org/officeDocument/2006/relationships/notesSlide" Target="/ppt/notesSlides/notesSlide1.xml" Id="Ree96a9f399604f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a528fb22c419a" /><Relationship Type="http://schemas.openxmlformats.org/officeDocument/2006/relationships/notesSlide" Target="/ppt/notesSlides/notesSlide2.xml" Id="R31ae1f36f38942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9cd1802254b66" /><Relationship Type="http://schemas.openxmlformats.org/officeDocument/2006/relationships/image" Target="/ppt/media/image.png" Id="R7e300c14bef840c7" /><Relationship Type="http://schemas.openxmlformats.org/officeDocument/2006/relationships/notesSlide" Target="/ppt/notesSlides/notesSlide3.xml" Id="R55f60e29338d43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0c61797974bb4" /><Relationship Type="http://schemas.openxmlformats.org/officeDocument/2006/relationships/notesSlide" Target="/ppt/notesSlides/notesSlide4.xml" Id="R9d5ca5823b0a41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ca3615fcb475f" /><Relationship Type="http://schemas.openxmlformats.org/officeDocument/2006/relationships/notesSlide" Target="/ppt/notesSlides/notesSlide5.xml" Id="R8502a00c6d7043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db339b6d14682" /><Relationship Type="http://schemas.openxmlformats.org/officeDocument/2006/relationships/notesSlide" Target="/ppt/notesSlides/notesSlide6.xml" Id="R211873a9609d46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41efe9e224b9d" /><Relationship Type="http://schemas.openxmlformats.org/officeDocument/2006/relationships/notesSlide" Target="/ppt/notesSlides/notesSlide7.xml" Id="R838594c7ff5b4b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f7e4821724a96" /><Relationship Type="http://schemas.openxmlformats.org/officeDocument/2006/relationships/notesSlide" Target="/ppt/notesSlides/notesSlide8.xml" Id="Re3dfdd57dc114c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af4615efa495b" /><Relationship Type="http://schemas.openxmlformats.org/officeDocument/2006/relationships/notesSlide" Target="/ppt/notesSlides/notesSlide9.xml" Id="R540149e7dc3247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c7ee57091457c" /><Relationship Type="http://schemas.openxmlformats.org/officeDocument/2006/relationships/notesSlide" Target="/ppt/notesSlides/notesSlide10.xml" Id="R92d34c580b8443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393dc0a24492a" /><Relationship Type="http://schemas.openxmlformats.org/officeDocument/2006/relationships/notesSlide" Target="/ppt/notesSlides/notesSlide11.xml" Id="R38c5fbe1114c4d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98b14e5a5404a" /><Relationship Type="http://schemas.openxmlformats.org/officeDocument/2006/relationships/image" Target="/ppt/media/image2.png" Id="R5546c848136246d9" /><Relationship Type="http://schemas.openxmlformats.org/officeDocument/2006/relationships/image" Target="/ppt/media/image3.png" Id="Rd4329645c5da4462" /><Relationship Type="http://schemas.openxmlformats.org/officeDocument/2006/relationships/image" Target="/ppt/media/image4.png" Id="Rba70edc383574cd5" /><Relationship Type="http://schemas.openxmlformats.org/officeDocument/2006/relationships/notesSlide" Target="/ppt/notesSlides/notesSlide12.xml" Id="Recc5e097d32a4b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efb9582064741" /><Relationship Type="http://schemas.openxmlformats.org/officeDocument/2006/relationships/notesSlide" Target="/ppt/notesSlides/notesSlide13.xml" Id="R3128dda5e9ba4a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ac86dc0064ae5" /><Relationship Type="http://schemas.openxmlformats.org/officeDocument/2006/relationships/notesSlide" Target="/ppt/notesSlides/notesSlide14.xml" Id="R5c08ce9cd1fd43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B6195-0502-4369-A681-E4CB0D76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850F7-4F40-4E0F-93B9-6AB19CFB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CARELANE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515B8-0476-4BB5-BB33-4CE573B0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33625"/>
            <a:ext cx="9620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E4F4F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F4F2"/>
                </a:solidFill>
                <a:latin typeface="Arial"/>
                <a:ea typeface="Arial"/>
                <a:cs typeface="Arial"/>
              </a:rPr>
              <a:t>AI-assisted healthcare guidance, booking</a:t>
            </a:r>
          </a:p>
          <a:p xmlns:a="http://schemas.openxmlformats.org/drawingml/2006/main">
            <a:pPr algn="l">
              <a:defRPr sz="2550" b="0">
                <a:solidFill>
                  <a:srgbClr val="E4F4F2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4F4F2"/>
                </a:solidFill>
                <a:latin typeface="Arial"/>
                <a:ea typeface="Arial"/>
                <a:cs typeface="Arial"/>
              </a:rPr>
              <a:t>and queue estimation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D2786-E929-43C1-A7B3-983EB3DC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1038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ABB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CCC39-EB45-4DEC-8BBB-F617AAB4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Software Engineering Project  ·  Mid-Semester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8288A-3AC9-4EBE-9FC3-FD275BF3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4F4F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4F4F2"/>
                </a:solidFill>
                <a:latin typeface="Arial"/>
                <a:ea typeface="Arial"/>
                <a:cs typeface="Arial"/>
              </a:rPr>
              <a:t>Mayank Kalra  ·  Pranshu Sharma  ·  Shashwat Mishra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9AA5E-6B17-47EB-8C2B-BE1DD461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CCC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8CCCD"/>
                </a:solidFill>
                <a:latin typeface="Arial"/>
                <a:ea typeface="Arial"/>
                <a:cs typeface="Arial"/>
              </a:rPr>
              <a:t>Thapar Institute of Engineering and Technology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803427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D94F25-5220-4CA5-899E-C65EA895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F551B-79CE-48C2-AEEC-B37B66CF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One connected patient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3F5FD-3C9F-4259-9FD0-562A5B00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3EC77-3048-4E67-B506-83AF1DC0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 ·  UCS503P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474C5-20E8-4F5A-9F41-DDBDCC5E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B3254-F9EB-44B3-BD23-B0E510E6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Patients often move between separate tools for guidance, doctor search, booking and visit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6E842-4A60-4209-846D-E1A43ECB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E8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7E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C7F0D-CB3A-460B-B45F-81DD43D3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828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Describe symptoms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C6900-9A4F-4A72-AD9D-9A8D8F27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95650"/>
            <a:ext cx="34290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B0D4D-C395-4963-9AC0-E65D0816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337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E8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7E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C4327-3AA4-4A1B-9A4E-3925E88B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810000"/>
            <a:ext cx="1828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Find specialty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FD3B4-003D-466F-AA59-11BEFB55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34290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504FA-C509-49D7-BD26-DF96E0A9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337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E8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7E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61096-8785-45B8-9F93-D1F6B1D7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1828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Choose doctor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7A31E-627B-42DB-B3EA-288AD27E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95650"/>
            <a:ext cx="34290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2C08F-9B4F-4B09-AB08-987608B5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9337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E8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7E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D0B78-C4DE-4CBD-8C2E-ACAEF90E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810000"/>
            <a:ext cx="1828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Book a slot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A3D05-6A3E-4E6E-8E75-D60181EA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95650"/>
            <a:ext cx="34290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4D9B5-E46B-4085-9D76-FF48CD25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337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87E8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87E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E3DDA-728E-4B1E-828A-FF6377FB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10000"/>
            <a:ext cx="1828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Track the 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F72502-5C29-4E94-A2E8-DBA6AA85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links these steps in a local research prototype.</a:t>
            </a:r>
          </a:p>
        </p:txBody>
      </p:sp>
    </p:spTree>
    <p:extLst>
      <p:ext uri="{BB962C8B-B14F-4D97-AF65-F5344CB8AC3E}">
        <p14:creationId xmlns:p14="http://schemas.microsoft.com/office/powerpoint/2010/main" val="650590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1A115-6E72-4AF5-B046-C4EFB8E2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504C5-7757-43FF-A616-3FC36D9C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What works in the current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665A5-B0E5-4E6C-B37C-C4823480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4EC4B-DA61-46EA-9161-F42B7406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 ·  UCS503P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C4B18-7ED0-4F13-A7B6-322ADBA0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A51A3-9854-4980-A6F1-0E89BBCA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D5242-18C4-45E8-AD8A-996A04A4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53244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Symptom-based specialty guidance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51AE9-DA7E-4BC0-B558-00246601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0D442-F5A6-4565-AFCE-A3E5E1ED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53244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Fictional doctor and clinic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C7A84-7FAF-48D8-91DF-153C3951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E0027-2481-4230-84FD-D27448D6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53244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Slot booking, cancellation and check-in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73DCB-AD0E-4AD1-ADBA-DBEFA445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C8094-B985-47DB-A6C0-424DFE60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53244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Simulated queue progression and wait estimate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00c14bef840c7"/>
          <a:stretch xmlns:a="http://schemas.openxmlformats.org/drawingml/2006/main"/>
        </p:blipFill>
        <p:spPr>
          <a:xfrm xmlns:a="http://schemas.openxmlformats.org/drawingml/2006/main">
            <a:off x="8236462" y="1466850"/>
            <a:ext cx="2024627" cy="43815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24E21-AC25-4E7C-9F8C-C09B1833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857875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Local React Native / Expo app</a:t>
            </a:r>
          </a:p>
        </p:txBody>
      </p:sp>
    </p:spTree>
    <p:extLst>
      <p:ext uri="{BB962C8B-B14F-4D97-AF65-F5344CB8AC3E}">
        <p14:creationId xmlns:p14="http://schemas.microsoft.com/office/powerpoint/2010/main" val="592032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7CA625-E658-4334-9087-CB43323C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49159-A8AC-45FB-ABFC-581141CA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8B9CB5-48E5-4A5B-A5DA-BE7A7C9D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04C98-E267-4155-A55E-9FB32600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 ·  UCS503P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82676-1D37-4E0C-A525-180CB50D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D2CA1-B27B-4B96-BAB1-01E8A9B0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21431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React Native / Expo</a:t>
            </a:r>
          </a:p>
          <a:p xmlns:a="http://schemas.openxmlformats.org/drawingml/2006/main">
            <a:pPr algn="ctr">
              <a:defRPr sz="17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Patient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0AD43-1B8E-4877-B2EF-F8303858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28900"/>
            <a:ext cx="2190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FastAPI backend</a:t>
            </a:r>
          </a:p>
          <a:p xmlns:a="http://schemas.openxmlformats.org/drawingml/2006/main">
            <a:pPr algn="ctr">
              <a:defRPr sz="17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JSON / HTTP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37DE3-8D77-4B94-9944-E48832F0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666875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Specialty model</a:t>
            </a:r>
          </a:p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TF-IDF + LR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F28EE-A927-484A-8234-7061AA7D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0099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SQLite</a:t>
            </a:r>
          </a:p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Sessions + visits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4098A-287B-428C-B024-FB5AB43B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352925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CatBoost queue</a:t>
            </a:r>
          </a:p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wait estimate</a:t>
            </a:r>
          </a:p>
        </p:txBody>
      </p: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71775" y="3176588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96000" y="2143125"/>
            <a:ext cx="1362075" cy="10334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096000" y="3176588"/>
            <a:ext cx="1362075" cy="309563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96000" y="3176588"/>
            <a:ext cx="1362075" cy="1652588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C8F4A-DAF2-481E-B9DA-0720C652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52625"/>
            <a:ext cx="1685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Research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181B2-6571-4B69-B20C-17D6FB3C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52675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727A"/>
                </a:solidFill>
                <a:latin typeface="Arial"/>
                <a:ea typeface="Arial"/>
                <a:cs typeface="Arial"/>
              </a:rPr>
              <a:t>Saved models and metrics</a:t>
            </a:r>
          </a:p>
          <a:p xmlns:a="http://schemas.openxmlformats.org/drawingml/2006/main">
            <a:pPr algn="l">
              <a:defRPr sz="1275" b="0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7727A"/>
                </a:solidFill>
                <a:latin typeface="Arial"/>
                <a:ea typeface="Arial"/>
                <a:cs typeface="Arial"/>
              </a:rPr>
              <a:t>feed local inference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76D12-87EA-4D2F-85FB-D46942D8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362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3285C-EB19-4153-95F9-4BFB6278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62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Service layer</a:t>
            </a:r>
          </a:p>
        </p:txBody>
      </p:sp>
    </p:spTree>
    <p:extLst>
      <p:ext uri="{BB962C8B-B14F-4D97-AF65-F5344CB8AC3E}">
        <p14:creationId xmlns:p14="http://schemas.microsoft.com/office/powerpoint/2010/main" val="10468517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4DD46D-C930-488C-B539-BB721655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58F1B-5191-4AAF-BD68-02B4CEBA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UML use case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3A77F-8A6A-4B00-8DF0-D3466B7A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23412-8351-4A94-841A-2FCD65E3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 ·  UCS503P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AE1CD2-4B93-4ED0-9090-9AD02783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9D3F5-5651-44FC-A173-BE9A6218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66850"/>
            <a:ext cx="71628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D4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0430E9-CA37-477C-B4F2-3252E0DD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5811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C2ED8-7275-4D9F-85D3-4F35D7F6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33700"/>
            <a:ext cx="1381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D3A"/>
          </a:solidFill>
          <a:ln xmlns:a="http://schemas.openxmlformats.org/drawingml/2006/main" w="15240">
            <a:solidFill>
              <a:srgbClr val="102D3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D3D3D-CC45-42A2-A945-30018317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3370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D3A"/>
          </a:solidFill>
          <a:ln xmlns:a="http://schemas.openxmlformats.org/drawingml/2006/main" w="15240">
            <a:solidFill>
              <a:srgbClr val="102D3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desk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43D8B-1B3F-4B01-A96E-C94ECE0E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Get specialty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guidance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B0C63-D725-4B4A-B22E-5E8D37A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Search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doctors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24098-067E-4010-895A-3F1136E5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Book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appointment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15096-ACB6-4457-8926-BCE263D2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19575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Manage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visit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4E05F-DAAE-40DC-B0DA-9C4836E0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19575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View live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B561BF-1723-4115-91F0-24A99409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9575"/>
            <a:ext cx="152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Advance demo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1905000" y="2628900"/>
            <a:ext cx="104775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1905000" y="2628900"/>
            <a:ext cx="33813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1905000" y="2628900"/>
            <a:ext cx="571500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905000" y="3238500"/>
            <a:ext cx="1047750" cy="13716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905000" y="3238500"/>
            <a:ext cx="3381375" cy="13716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9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9144000" y="3238500"/>
            <a:ext cx="876300" cy="13716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B2237-F1F9-4F72-BCD1-8E69098E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771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Patient 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55BC8B-355E-49B0-A0C5-93B03AF5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771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Queue control</a:t>
            </a:r>
          </a:p>
        </p:txBody>
      </p:sp>
    </p:spTree>
    <p:extLst>
      <p:ext uri="{BB962C8B-B14F-4D97-AF65-F5344CB8AC3E}">
        <p14:creationId xmlns:p14="http://schemas.microsoft.com/office/powerpoint/2010/main" val="12607466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F38391-E953-4359-9E3C-BA6092D7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68860-7AB4-4938-9499-B526B3C1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Activity diagram: patient visit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0F4C76-165A-4D55-810A-7D2D79AD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16D09-6CF1-4719-A80F-8A5E5B21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 ·  UCS503P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5FEC6-19C4-4A2E-933C-E96F3171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95A44-11E7-4337-98C7-EA6D89A8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16573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Create demo</a:t>
            </a:r>
          </a:p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4E68E-72C3-4F3E-8F06-70393C14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676400"/>
            <a:ext cx="16573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Enter symptoms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DF000-851A-4D20-9E05-5EBB2E72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76400"/>
            <a:ext cx="16573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Get specialty</a:t>
            </a:r>
          </a:p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05B17-67F0-45D8-8461-EE07E718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676400"/>
            <a:ext cx="16573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Search doctor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A7436-ADCA-48FB-9954-1DBCD34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16573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Book slot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FF87C-7158-4F36-BDA9-E16B605F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00475"/>
            <a:ext cx="16573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Check 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79465-C314-485B-842B-BB929E52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800475"/>
            <a:ext cx="16573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View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3D139-D4CD-47CF-A0B7-CE2A377E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00475"/>
            <a:ext cx="16573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Complete visit</a:t>
            </a:r>
          </a:p>
        </p:txBody>
      </p: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62200" y="20716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448175" y="20716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34150" y="20716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620125" y="2071688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877425" y="2466975"/>
            <a:ext cx="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8620125" y="41957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6534150" y="419576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9DD250-2217-4231-8C01-E60A8A04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6686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7727A"/>
                </a:solidFill>
                <a:latin typeface="Arial"/>
                <a:ea typeface="Arial"/>
                <a:cs typeface="Arial"/>
              </a:rPr>
              <a:t>Continue only if the user selects a doctor and an available slot.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E3EAD-A71C-48EF-8057-2647D31C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86375"/>
            <a:ext cx="595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7727A"/>
                </a:solidFill>
                <a:latin typeface="Arial"/>
                <a:ea typeface="Arial"/>
                <a:cs typeface="Arial"/>
              </a:rPr>
              <a:t>Demo desk advances the queue after check-in.</a:t>
            </a:r>
          </a:p>
        </p:txBody>
      </p:sp>
    </p:spTree>
    <p:extLst>
      <p:ext uri="{BB962C8B-B14F-4D97-AF65-F5344CB8AC3E}">
        <p14:creationId xmlns:p14="http://schemas.microsoft.com/office/powerpoint/2010/main" val="21184619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63372-0FC2-48CD-8F8B-AAE70F5A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746EC-2D21-43A3-99B9-3E9C68E6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UML class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BE88A-4E37-4436-ADD1-572F2228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F27EE-45B6-49AF-A07F-D57F3CC4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 ·  UCS503P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4365A-3341-448C-9CC9-2AA234DA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6E5E4-DE43-42BD-A3AA-8ACEE247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Session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────────────────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sessionId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tokenHash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createdAt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DFBCA-88F0-437D-B300-0707BE61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619250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Appointment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────────────────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appointmentId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doctorId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slot,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B730F-EADE-40B9-BE49-424DE726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19250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Doctor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────────────────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doctorId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name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department, clinic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43AE3-DE78-4E1C-BF9D-80007939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619250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Queue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────────────────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patientsAhead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activeDoctors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waitingTime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C8171-9672-4290-8132-1139918A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048125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CareService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────────────────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getGuidance()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bookAppointment()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checkIn()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2B277-AF39-435E-B9D0-A8478174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48125"/>
            <a:ext cx="2095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SpecialtyModel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────────────────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loadModel()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predict()</a:t>
            </a:r>
          </a:p>
          <a:p xmlns:a="http://schemas.openxmlformats.org/drawingml/2006/main">
            <a:pPr algn="ctr">
              <a:defRPr sz="13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rank()</a:t>
            </a:r>
          </a:p>
        </p:txBody>
      </p: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05100" y="24288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267325" y="24288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267325" y="2428875"/>
            <a:ext cx="3028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10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4219575" y="323850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267325" y="48577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26010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926020-EEBF-4D15-9CAC-034E3692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12374-F04F-4B49-B530-66FCE9CC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Iterative software development life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A1E6F-1BFC-476F-A25B-8B46888B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D9448-F001-4F29-B2B7-29E4F37C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 ·  UCS503P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74696-1CAF-40EB-9728-EACEB440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6F991-9761-437D-9F6A-0773EDA3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81175"/>
            <a:ext cx="29908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1 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D6618-F805-4836-A373-E7F4FB40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727A"/>
                </a:solidFill>
                <a:latin typeface="Arial"/>
                <a:ea typeface="Arial"/>
                <a:cs typeface="Arial"/>
              </a:rPr>
              <a:t>Patient workflow and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A868F-DC27-48C5-B5DF-0C885827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781175"/>
            <a:ext cx="29908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2 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8102C-B812-4DBA-978D-6A86D4E4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432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727A"/>
                </a:solidFill>
                <a:latin typeface="Arial"/>
                <a:ea typeface="Arial"/>
                <a:cs typeface="Arial"/>
              </a:rPr>
              <a:t>Client, API, data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6DE44-26EC-4E9A-B27E-DC3713A4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781175"/>
            <a:ext cx="29908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3  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AD9DE-3C66-4544-8DA6-395D198B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432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727A"/>
                </a:solidFill>
                <a:latin typeface="Arial"/>
                <a:ea typeface="Arial"/>
                <a:cs typeface="Arial"/>
              </a:rPr>
              <a:t>Models, app, booking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458DF-6AB9-438C-99EA-8A81CB43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62425"/>
            <a:ext cx="29908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4  Testing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66F8B-63F8-4002-B651-8524EFA4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44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727A"/>
                </a:solidFill>
                <a:latin typeface="Arial"/>
                <a:ea typeface="Arial"/>
                <a:cs typeface="Arial"/>
              </a:rPr>
              <a:t>Backend and browser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B8B58-D3C4-4DFA-A1F1-C0A7370C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162425"/>
            <a:ext cx="29908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4F4F2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5  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BB105-B4C0-42EB-B5AC-4A715905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1244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727A"/>
                </a:solidFill>
                <a:latin typeface="Arial"/>
                <a:ea typeface="Arial"/>
                <a:cs typeface="Arial"/>
              </a:rPr>
              <a:t>ML and queue 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D9FEDC-D5E6-4635-8D88-DA65092A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162425"/>
            <a:ext cx="299085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87E8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6  Improvement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D2B15-7340-4431-B6F4-88DA9D7A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1244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727A"/>
                </a:solidFill>
                <a:latin typeface="Arial"/>
                <a:ea typeface="Arial"/>
                <a:cs typeface="Arial"/>
              </a:rPr>
              <a:t>Data, security, device tests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05225" y="2176463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77125" y="2176463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43" name=""/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753600" y="2571750"/>
            <a:ext cx="0" cy="1590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44" name=""/>
          <p:cNvCxnSpPr>
            <a:stCxn xmlns:a="http://schemas.openxmlformats.org/drawingml/2006/main" id="16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477125" y="4557713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14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3705225" y="4557713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7"/>
            </a:solidFill>
            <a:prstDash val="solid"/>
            <a:head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46F239-E664-49B4-B41B-044E367A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8645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E8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87"/>
                </a:solidFill>
                <a:latin typeface="Arial"/>
                <a:ea typeface="Arial"/>
                <a:cs typeface="Arial"/>
              </a:rPr>
              <a:t>Repeat as evidence and requirements change</a:t>
            </a:r>
          </a:p>
        </p:txBody>
      </p:sp>
    </p:spTree>
    <p:extLst>
      <p:ext uri="{BB962C8B-B14F-4D97-AF65-F5344CB8AC3E}">
        <p14:creationId xmlns:p14="http://schemas.microsoft.com/office/powerpoint/2010/main" val="21162519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B352C5-BEAB-411A-A2C5-486C17C9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36480-12D9-4450-9AC5-089326AB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Model training and datasets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5B652-EFCD-46E0-A6B8-0D72F9C0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F7C33-0719-45AC-8625-6B66C266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 ·  UCS503P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F4879-0531-433B-8395-63B06268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FD2CE-57D5-45C1-A943-3BE579D4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Specialty guidance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74695-FEC7-4844-9318-6E9D8E0C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52CF5-B837-4294-9580-B52A3565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49434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1,053 retained symptom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7475E-2C3E-4C44-BF26-28F1E71D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A8214-8B83-47FA-95D5-5FE70F04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9434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Nine specialty classes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203C0-04EC-40A3-9C12-A0EC7D7D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02E35-188B-4B1E-9807-9756392D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49434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673 train, 168 validation, 212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BB57B-08B4-4090-8032-F258C225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6F9D7-5E2D-4CFF-887E-F3BA3523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49434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TF-IDF + Logistic Regression and DistilBERT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9B0C6-E485-40C9-A3EC-3C6D21BC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95425"/>
            <a:ext cx="9525" cy="413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D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017F3-EC13-4340-9062-39951680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66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Queue estimation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16F84-74C6-41EF-A37B-8633164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0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E8DC8-39C7-472C-BE70-A2D908E1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105025"/>
            <a:ext cx="4705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12,150 simulated visits over 90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F87CB-9B24-49EC-B1A3-692FBBBD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A23CAC-B732-4882-93DC-00EE18E8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19400"/>
            <a:ext cx="4705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Chronological 60 / 15 / 15 day split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509F8-236B-4AEC-BF10-A555319E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78136-D9DC-43A9-859E-0BE3158D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533775"/>
            <a:ext cx="4705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CatBoostRegressor on queue state features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06133F-DC7C-4F8D-9734-A6E40A27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352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505DF-8557-437D-97AA-87D2A3B5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248150"/>
            <a:ext cx="4705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MAE used for model selection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B6B240-01E4-4D55-8303-6910435D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D65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655B"/>
                </a:solidFill>
                <a:latin typeface="Arial"/>
                <a:ea typeface="Arial"/>
                <a:cs typeface="Arial"/>
              </a:rPr>
              <a:t>The clinical dataset is small and labels are mapped from conditions. Queue data is simulated.</a:t>
            </a:r>
          </a:p>
        </p:txBody>
      </p:sp>
    </p:spTree>
    <p:extLst>
      <p:ext uri="{BB962C8B-B14F-4D97-AF65-F5344CB8AC3E}">
        <p14:creationId xmlns:p14="http://schemas.microsoft.com/office/powerpoint/2010/main" val="18267082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29D02-AE37-4443-AFD4-FB4C0757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F8430-EFA9-4C60-A01C-BC243DA2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Specialty classification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4479F-F430-4D1B-ABF9-BD44B3F8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FFBF4-7BD3-43C0-B930-1F62E6FC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 ·  UCS503P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E2CD8-166C-45B3-A211-44CB9547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2D589-9EBD-4791-97F7-6B32E124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859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087E87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087E87"/>
                </a:solidFill>
                <a:latin typeface="Arial"/>
                <a:ea typeface="Arial"/>
                <a:cs typeface="Arial"/>
              </a:rPr>
              <a:t>96.70%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21174-846B-4B23-9146-CC197E4F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4476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TF-IDF + Logistic Regression</a:t>
            </a:r>
          </a:p>
          <a:p xmlns:a="http://schemas.openxmlformats.org/drawingml/2006/main">
            <a:pPr algn="l"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test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77034-B3EF-409F-84B3-17634179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859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50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95.75%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6BAC1-6942-4416-AFEE-8ABCA131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19375"/>
            <a:ext cx="4476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DistilBERT</a:t>
            </a:r>
          </a:p>
          <a:p xmlns:a="http://schemas.openxmlformats.org/drawingml/2006/main">
            <a:pPr algn="l"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test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0E9FB-37FA-443F-9C02-96CEE6DE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9525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D4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DD293-3189-4ED1-A5BA-A8E3B09A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Test macro-F1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9726A-8ADA-48EB-B83A-69492472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767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E87"/>
                </a:solidFill>
                <a:latin typeface="Arial"/>
                <a:ea typeface="Arial"/>
                <a:cs typeface="Arial"/>
              </a:rPr>
              <a:t>0.9683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E4A1C8-9328-45EB-9F7C-BF11C75B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7672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0.9596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350939-6BB3-4220-9A33-5C51FB1D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673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7727A"/>
                </a:solidFill>
                <a:latin typeface="Arial"/>
                <a:ea typeface="Arial"/>
                <a:cs typeface="Arial"/>
              </a:rPr>
              <a:t>Both models reached 100% top-three accuracy on the retained test partition.</a:t>
            </a:r>
          </a:p>
        </p:txBody>
      </p:sp>
    </p:spTree>
    <p:extLst>
      <p:ext uri="{BB962C8B-B14F-4D97-AF65-F5344CB8AC3E}">
        <p14:creationId xmlns:p14="http://schemas.microsoft.com/office/powerpoint/2010/main" val="19424007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4F3BC-FE8E-406B-9AD7-7409D5EA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87947-957C-43BC-A627-859B96B8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Simulated queue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0074B-1732-4BF3-8A70-21002A7C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19832-DC11-460D-BFC0-459109FA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 ·  UCS503P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2DCFC-7C72-4BCA-A062-A38286DF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51C89-D98D-4979-B4F1-324B10B0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Mean absolute error on the test 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F9EB3-6D98-4E28-ADF7-F8990635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43175"/>
            <a:ext cx="3714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6.378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5C4EE-5BDE-4698-A815-F00F75EC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7727A"/>
                </a:solidFill>
                <a:latin typeface="Arial"/>
                <a:ea typeface="Arial"/>
                <a:cs typeface="Arial"/>
              </a:rPr>
              <a:t>Simple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73911-52AB-44A1-9DF4-ADD40AA9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43175"/>
            <a:ext cx="3810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87E8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87E87"/>
                </a:solidFill>
                <a:latin typeface="Arial"/>
                <a:ea typeface="Arial"/>
                <a:cs typeface="Arial"/>
              </a:rPr>
              <a:t>5.464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EFDBD-B9F9-465C-8B1F-3C73CA4F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86125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7E8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87E87"/>
                </a:solidFill>
                <a:latin typeface="Arial"/>
                <a:ea typeface="Arial"/>
                <a:cs typeface="Arial"/>
              </a:rPr>
              <a:t>CatBoost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73739-49D4-4C10-95D5-CD168460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828925"/>
            <a:ext cx="11811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C652F-AD0A-412C-A74A-349E14C6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047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14.34% lower MAE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4A398-AA37-43B3-963B-9332BA0E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D655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D655B"/>
                </a:solidFill>
                <a:latin typeface="Arial"/>
                <a:ea typeface="Arial"/>
                <a:cs typeface="Arial"/>
              </a:rPr>
              <a:t>Measured only within the first-come, first-served simulation.</a:t>
            </a:r>
          </a:p>
        </p:txBody>
      </p:sp>
    </p:spTree>
    <p:extLst>
      <p:ext uri="{BB962C8B-B14F-4D97-AF65-F5344CB8AC3E}">
        <p14:creationId xmlns:p14="http://schemas.microsoft.com/office/powerpoint/2010/main" val="9577613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CE8B3-2668-4C65-BA6E-BA60E975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38302-8925-4638-8CEC-25EABA37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Application workflow in the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A29F0-5EE7-4E74-8B05-9A953280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D40CB-4493-410F-B71D-DB639440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 ·  UCS503P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9B02E-0039-4A11-90D6-52F08B8A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6c848136246d9"/>
          <a:stretch xmlns:a="http://schemas.openxmlformats.org/drawingml/2006/main"/>
        </p:blipFill>
        <p:spPr>
          <a:xfrm xmlns:a="http://schemas.openxmlformats.org/drawingml/2006/main">
            <a:off x="533400" y="2414323"/>
            <a:ext cx="3333750" cy="2315104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29645c5da4462"/>
          <a:stretch xmlns:a="http://schemas.openxmlformats.org/drawingml/2006/main"/>
        </p:blipFill>
        <p:spPr>
          <a:xfrm xmlns:a="http://schemas.openxmlformats.org/drawingml/2006/main">
            <a:off x="4429125" y="2414323"/>
            <a:ext cx="3333750" cy="2315104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0edc383574cd5"/>
          <a:stretch xmlns:a="http://schemas.openxmlformats.org/drawingml/2006/main"/>
        </p:blipFill>
        <p:spPr>
          <a:xfrm xmlns:a="http://schemas.openxmlformats.org/drawingml/2006/main">
            <a:off x="8324850" y="2414323"/>
            <a:ext cx="3333750" cy="231510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473EF-858B-4575-A6FF-0DC6EC1B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35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Guidance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D75F5-C0FA-4FBB-8226-1CFCC9F0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7435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Booking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86C60-6DFD-42DC-9933-9610E712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435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Live queue</a:t>
            </a:r>
          </a:p>
        </p:txBody>
      </p:sp>
    </p:spTree>
    <p:extLst>
      <p:ext uri="{BB962C8B-B14F-4D97-AF65-F5344CB8AC3E}">
        <p14:creationId xmlns:p14="http://schemas.microsoft.com/office/powerpoint/2010/main" val="103256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165BA-EFB2-4C70-A0ED-B221A91A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F01C6-F611-4686-9B07-DB00AC60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Verification and current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C41C7-03BC-4DFE-A57F-C39F94A5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28B02-18EA-4111-ACAB-9645C7FB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 ·  UCS503P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FEC08-ECA3-4A00-B610-FDE798EB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D9429-20AF-4BC8-AC38-18BE89D9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144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E87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997ED-8B65-4DBF-9423-FC7CDA6C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540C0-1DAF-4DFC-9A4E-0BD79420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95500"/>
            <a:ext cx="4781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Four backend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73979-ACE9-4EAE-8B19-783ADC45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1418C-385E-4E23-BF35-E8B1D8CE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38450"/>
            <a:ext cx="4781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Nine browser checks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9466F-5533-464B-85B0-32B75DD1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774B7-B78E-4A3D-9062-9D7E6EA9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581400"/>
            <a:ext cx="4781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TypeScript, web and Android JS exports completed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A89EB-D9BC-4BFD-8CC1-34960D6A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2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5A4AB-E0C6-4627-B01D-43DCD19D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24350"/>
            <a:ext cx="4781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Booking ownership and slot contention checked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89FD07-924B-4047-9596-30FAD631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14475"/>
            <a:ext cx="9525" cy="412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D4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92287-4C85-46C7-BA12-631539D1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144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D655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D655B"/>
                </a:solidFill>
                <a:latin typeface="Arial"/>
                <a:ea typeface="Arial"/>
                <a:cs typeface="Arial"/>
              </a:rPr>
              <a:t>Still required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87208-B5B6-479D-BC00-9C5E6561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859F2-550C-4553-8840-E2679446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9550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Independent clinical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8352A-6404-4B31-93DA-4D614C2C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B5864-5D6D-4FAC-A66E-A1AFB9BF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83845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Real providers and operational queue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8885A4-1B49-4EA4-81C6-53918D07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221C2-1DCD-4655-BECC-44A077FE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8140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Production security and privacy assessment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05107-F07B-43E4-883E-6D18B91D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2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BD1350-548F-4222-9CDF-D9B87514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24350"/>
            <a:ext cx="4686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Physical Android testing and signed build</a:t>
            </a:r>
          </a:p>
        </p:txBody>
      </p:sp>
    </p:spTree>
    <p:extLst>
      <p:ext uri="{BB962C8B-B14F-4D97-AF65-F5344CB8AC3E}">
        <p14:creationId xmlns:p14="http://schemas.microsoft.com/office/powerpoint/2010/main" val="12683010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FA37D-E56F-4A45-98FB-8E7FC85B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3D1DA-3BB1-4DE5-96F4-D15D5AA0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Carelane: next development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E2E63-8A5C-438F-8452-15E5D0FE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D4D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C9196-9FA4-4D86-91EB-C0AE8C4D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CARELANE  ·  UCS503P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2FFA9-CEE7-4DF7-AB39-026AADBA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3890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772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772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A01B0-A252-4F1A-9E6A-BF122CFF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57350"/>
            <a:ext cx="10287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An integrated local prototype is working.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7CE134-1EA9-4FF8-84FB-72C2E81E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7650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E8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87"/>
                </a:solidFill>
                <a:latin typeface="Arial"/>
                <a:ea typeface="Arial"/>
                <a:cs typeface="Arial"/>
              </a:rPr>
              <a:t>The next stage is governed real-world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94C13-E9DC-4DC8-BB5A-FAE08B26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0BD2C-3F73-4F68-BFBF-8B663707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013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Clinician-reviewed data and external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E2356-9926-49FC-8CFC-8288E8DC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91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A6FF7-3F1E-4BCF-AD96-F64D0785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1013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Operational queue data and richer workflow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14700-0A5B-484D-96EA-0109A095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C2852-0AF6-4BC0-A161-9060ACD2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013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1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13B"/>
                </a:solidFill>
                <a:latin typeface="Arial"/>
                <a:ea typeface="Arial"/>
                <a:cs typeface="Arial"/>
              </a:rPr>
              <a:t>Authentication, audit, device testing and signed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08C41-9B2F-4D4B-849B-5FD54E21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57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D65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D655B"/>
                </a:solidFill>
                <a:latin typeface="Arial"/>
                <a:ea typeface="Arial"/>
                <a:cs typeface="Arial"/>
              </a:rPr>
              <a:t>Current model metrics describe an experiment, not clinical readiness.</a:t>
            </a:r>
          </a:p>
        </p:txBody>
      </p:sp>
    </p:spTree>
    <p:extLst>
      <p:ext uri="{BB962C8B-B14F-4D97-AF65-F5344CB8AC3E}">
        <p14:creationId xmlns:p14="http://schemas.microsoft.com/office/powerpoint/2010/main" val="771642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2026-09-14T08:57:40.0670000Z</dcterms:created>
  <dcterms:modified xsi:type="dcterms:W3CDTF">2026-09-14T08:57:40.0670000Z</dcterms:modified>
</coreProperties>
</file>